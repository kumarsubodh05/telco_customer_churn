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0194-C11E-4E23-8E6B-D30C518E6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74287-8317-489D-9CD1-E234B93F5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B9B0-468C-41EC-ADB7-1E73D56A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C969-2E02-497C-A42C-305B4E3A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1AFD-2D14-4AC5-824A-C1B322C7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6635-8F94-408C-BCE1-C204BE77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236A-ED77-4EF1-8698-E025A871C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87231-7232-4ACF-8047-A9F22BE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2A427-DFBB-4FB4-AB28-B702D0B4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8A2C5-9EE1-4A9F-9BBB-1D1F122D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3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1250-9ADE-49A8-894C-50D960F9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3F6D-12C3-480B-8E8B-5B8DF48DC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64BC6-815A-498B-87B8-1F50A149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1C08-C342-4579-9DC9-4C925284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E02B-8350-469B-AE60-839FD14A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54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4E8D-4CEB-4357-B591-D868C750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D345-B6B3-477C-932E-3FED0D016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5AA6D-3E52-4ADB-8823-225C21F0A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486AF-93D1-4119-A34C-1E8C4585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ED74C-FA24-4633-AA5F-88EFC0BC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3B19F-42E7-40B8-94CA-137DC3799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26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349-73B6-45DE-93A7-FBA53AC4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2F129-FEA7-4CD8-A73B-F7C6806D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70A64-DFD2-4D5A-96FA-389D546A2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9031B-0375-4555-8CDE-885A2937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BE929-C721-4AE1-9319-C0DED143D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C73CC-85D3-47B8-A05B-ED2619B2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E8560-2C4F-470B-BFC4-685313F7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E96F7-5D19-44B2-9039-E8AE1516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4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682D-9C2A-4CCB-90D8-197218CC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E58CB-ECD4-4C6C-B086-973CB493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C4455-7548-46DC-A471-16F8977D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044C1-121B-46E0-8A91-5FB8A0D9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02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99CB9-B2F4-4AED-9149-3026BE34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ABE4C-EA7A-44D5-9F2F-6AFAD26F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87688-86FB-4E7F-836B-6D51300D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7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85447-C022-4491-9CBE-3B6092625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B782-A01F-4196-80C3-80F32A351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59D6F-2AA2-43B0-B388-064B591BD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10969-29EB-41B4-BB8D-848A46C7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51C6A-7828-4350-8137-898FA362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692F7-4E0E-4C3B-A5D4-9E3B15DB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2B809-761A-48A8-9241-4E81338C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3ECF7-12AE-4C68-8506-DEAA55668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3F330-F6E9-4434-939F-B87AAA77E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4D6D-BC30-4B44-BE8D-BC65CF58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2674B-A73E-4C7C-B422-08E75A16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AFCE-03F7-46CC-80BD-C02324DF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06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4FB4-36CA-4F69-9A27-A554BB72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8B784-C9BE-4F33-99DE-0AF02A343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EE637-BD95-498A-BA6A-3CD368C1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97DC0-BF94-4420-8466-3AB429EB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DC516-EBB9-40D6-848A-52B80A44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0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E4B84-9216-489E-B52C-8633687C4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16433-0147-4E74-93CD-1117C34DC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C1C5B-4BE6-4A65-9296-FFD78043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55FA4-619E-46EF-8FE6-5296B31F7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811CB-0D5D-49A3-87A7-FDCF5C94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0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BB3D4-A411-434F-8A15-E87EAD7CE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B9FC-897E-46AE-A984-A3DB5FDC7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106BE-F05D-471C-860C-D5495C57D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FB29B-0616-49A0-A104-13AB8C6602EA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B471-A363-4429-BA90-44C1FC05B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C6B21-D95E-47F7-8113-0362F2D2C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11153-FC3E-49FC-A31E-C431D8393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4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6E1266-64CD-4E86-B57F-280526A7EDD5}"/>
              </a:ext>
            </a:extLst>
          </p:cNvPr>
          <p:cNvSpPr txBox="1"/>
          <p:nvPr/>
        </p:nvSpPr>
        <p:spPr>
          <a:xfrm>
            <a:off x="192505" y="1703669"/>
            <a:ext cx="118775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Customer Churn Prediction &amp; Retention Strategy Optimization</a:t>
            </a:r>
            <a:br>
              <a:rPr lang="en-US" sz="3200" dirty="0"/>
            </a:br>
            <a:r>
              <a:rPr lang="en-US" sz="3200" dirty="0"/>
              <a:t>Machine Learning-Based Predictive Analytics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8152B-9420-48DE-98F4-B8C8585B2563}"/>
              </a:ext>
            </a:extLst>
          </p:cNvPr>
          <p:cNvSpPr txBox="1"/>
          <p:nvPr/>
        </p:nvSpPr>
        <p:spPr>
          <a:xfrm>
            <a:off x="2204186" y="3692393"/>
            <a:ext cx="7469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Presented by: Subodh Kumar</a:t>
            </a:r>
          </a:p>
        </p:txBody>
      </p:sp>
    </p:spTree>
    <p:extLst>
      <p:ext uri="{BB962C8B-B14F-4D97-AF65-F5344CB8AC3E}">
        <p14:creationId xmlns:p14="http://schemas.microsoft.com/office/powerpoint/2010/main" val="316422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B8B88-8DFC-4CA7-86B9-FEFBD865539A}"/>
              </a:ext>
            </a:extLst>
          </p:cNvPr>
          <p:cNvSpPr txBox="1"/>
          <p:nvPr/>
        </p:nvSpPr>
        <p:spPr>
          <a:xfrm>
            <a:off x="528320" y="254000"/>
            <a:ext cx="4754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5AF89-D29E-42E9-8F9C-56E7E1DBC23B}"/>
              </a:ext>
            </a:extLst>
          </p:cNvPr>
          <p:cNvSpPr txBox="1"/>
          <p:nvPr/>
        </p:nvSpPr>
        <p:spPr>
          <a:xfrm>
            <a:off x="203200" y="1230618"/>
            <a:ext cx="49885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Customer churn leads to significant revenue loss</a:t>
            </a:r>
            <a:br>
              <a:rPr lang="en-US" sz="2800" dirty="0"/>
            </a:br>
            <a:r>
              <a:rPr lang="en-US" sz="2800" dirty="0"/>
              <a:t>• Built a predictive ML model to identify high-risk customers</a:t>
            </a:r>
            <a:br>
              <a:rPr lang="en-US" sz="2800" dirty="0"/>
            </a:br>
            <a:r>
              <a:rPr lang="en-US" sz="2800" dirty="0"/>
              <a:t>• Achieved strong performance (high Recall &amp; ROC-AUC)</a:t>
            </a:r>
            <a:br>
              <a:rPr lang="en-US" sz="2800" dirty="0"/>
            </a:br>
            <a:r>
              <a:rPr lang="en-US" sz="2800" dirty="0"/>
              <a:t>• Identified key churn drivers</a:t>
            </a:r>
            <a:br>
              <a:rPr lang="en-US" sz="2800" dirty="0"/>
            </a:br>
            <a:r>
              <a:rPr lang="en-US" sz="2800" dirty="0"/>
              <a:t>• Provided actionable retention strategies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262A1BD-34FD-4AC7-9382-F2A8739C0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66344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D348CF7-F2C1-4277-9B0E-0434714D57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421640"/>
            <a:ext cx="4003040" cy="400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60CC0C-B99F-4D51-9680-B97D733C2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-3632"/>
            <a:ext cx="6858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025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0A107-76EC-464C-A814-823E03D4E8E7}"/>
              </a:ext>
            </a:extLst>
          </p:cNvPr>
          <p:cNvSpPr txBox="1"/>
          <p:nvPr/>
        </p:nvSpPr>
        <p:spPr>
          <a:xfrm>
            <a:off x="0" y="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Business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0AE89-751E-4F3D-ABBA-7782673F2066}"/>
              </a:ext>
            </a:extLst>
          </p:cNvPr>
          <p:cNvSpPr txBox="1"/>
          <p:nvPr/>
        </p:nvSpPr>
        <p:spPr>
          <a:xfrm>
            <a:off x="200660" y="830996"/>
            <a:ext cx="63525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Telecom companies face: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 competition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Low switching barriers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Increasing acquisition costs</a:t>
            </a:r>
          </a:p>
          <a:p>
            <a:r>
              <a:rPr lang="en-US" sz="2000" dirty="0"/>
              <a:t>Problem:</a:t>
            </a:r>
            <a:br>
              <a:rPr lang="en-US" sz="2000" dirty="0"/>
            </a:br>
            <a:r>
              <a:rPr lang="en-US" sz="2000" dirty="0"/>
              <a:t>Identifying customers likely to churn before they leave.</a:t>
            </a:r>
          </a:p>
          <a:p>
            <a:r>
              <a:rPr lang="en-US" sz="2000" dirty="0"/>
              <a:t>Objective:</a:t>
            </a:r>
            <a:br>
              <a:rPr lang="en-US" sz="2000" dirty="0"/>
            </a:br>
            <a:r>
              <a:rPr lang="en-US" sz="2000" dirty="0"/>
              <a:t>Predict churn to enable proactive retention.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1BC57-4DDB-468D-9C33-92793F093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16" y="231556"/>
            <a:ext cx="5905084" cy="59050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907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4DCB9-A71A-4C51-AED4-87F27AF43680}"/>
              </a:ext>
            </a:extLst>
          </p:cNvPr>
          <p:cNvSpPr txBox="1"/>
          <p:nvPr/>
        </p:nvSpPr>
        <p:spPr>
          <a:xfrm>
            <a:off x="193040" y="7441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1C51A-486F-4A64-B7CB-A02C65E4BEC6}"/>
              </a:ext>
            </a:extLst>
          </p:cNvPr>
          <p:cNvSpPr txBox="1"/>
          <p:nvPr/>
        </p:nvSpPr>
        <p:spPr>
          <a:xfrm>
            <a:off x="182880" y="782300"/>
            <a:ext cx="61061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Total Customers:</a:t>
            </a:r>
            <a:r>
              <a:rPr lang="en-US" sz="2400" dirty="0"/>
              <a:t> 7,043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Total Features:</a:t>
            </a:r>
            <a:r>
              <a:rPr lang="en-US" sz="2400" dirty="0"/>
              <a:t> 20 (excluding target variable)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Target Variable:</a:t>
            </a:r>
            <a:r>
              <a:rPr lang="en-US" sz="2400" dirty="0"/>
              <a:t> Churn (Yes/No)</a:t>
            </a:r>
          </a:p>
          <a:p>
            <a:r>
              <a:rPr lang="en-US" sz="2400" dirty="0"/>
              <a:t>Feature Categories:</a:t>
            </a:r>
          </a:p>
          <a:p>
            <a:r>
              <a:rPr lang="en-US" sz="2400" dirty="0"/>
              <a:t>• Demographics</a:t>
            </a:r>
            <a:br>
              <a:rPr lang="en-US" sz="2400" dirty="0"/>
            </a:br>
            <a:r>
              <a:rPr lang="en-US" sz="2400" dirty="0"/>
              <a:t>• Service Usage</a:t>
            </a:r>
            <a:br>
              <a:rPr lang="en-US" sz="2400" dirty="0"/>
            </a:br>
            <a:r>
              <a:rPr lang="en-US" sz="2400" dirty="0"/>
              <a:t>• Contract Details</a:t>
            </a:r>
            <a:br>
              <a:rPr lang="en-US" sz="2400" dirty="0"/>
            </a:br>
            <a:r>
              <a:rPr lang="en-US" sz="2400" dirty="0"/>
              <a:t>• Billing Information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58948E-1A41-4818-9061-271E0875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0" y="74414"/>
            <a:ext cx="6075700" cy="6075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2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F27BB0-149A-4425-88B3-273605EBAAA8}"/>
              </a:ext>
            </a:extLst>
          </p:cNvPr>
          <p:cNvSpPr txBox="1"/>
          <p:nvPr/>
        </p:nvSpPr>
        <p:spPr>
          <a:xfrm>
            <a:off x="213360" y="947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Key Insights from EDA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29F3E-10EB-4238-9687-CA65E8A487FF}"/>
              </a:ext>
            </a:extLst>
          </p:cNvPr>
          <p:cNvSpPr txBox="1"/>
          <p:nvPr/>
        </p:nvSpPr>
        <p:spPr>
          <a:xfrm>
            <a:off x="213360" y="864175"/>
            <a:ext cx="6111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Major Findings:</a:t>
            </a:r>
          </a:p>
          <a:p>
            <a:r>
              <a:rPr lang="en-US" sz="2000" dirty="0"/>
              <a:t>• Month-to-month contracts show highest churn</a:t>
            </a:r>
            <a:br>
              <a:rPr lang="en-US" sz="2000" dirty="0"/>
            </a:br>
            <a:r>
              <a:rPr lang="en-US" sz="2000" dirty="0"/>
              <a:t>• Low tenure customers churn more</a:t>
            </a:r>
            <a:br>
              <a:rPr lang="en-US" sz="2000" dirty="0"/>
            </a:br>
            <a:r>
              <a:rPr lang="en-US" sz="2000" dirty="0"/>
              <a:t>• High monthly charges correlate with churn</a:t>
            </a:r>
            <a:br>
              <a:rPr lang="en-US" sz="2000" dirty="0"/>
            </a:br>
            <a:r>
              <a:rPr lang="en-US" sz="2000" dirty="0"/>
              <a:t>• Electronic check users show higher churn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2B7FD1-7732-4FD1-AD34-0882303EC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880" y="94734"/>
            <a:ext cx="5857240" cy="5857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06965E-C8E2-4601-A3F6-4224B0A93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07" y="2738750"/>
            <a:ext cx="4602053" cy="38398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39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3FFF5-4ADD-40AB-AE4E-BD0870D4C10E}"/>
              </a:ext>
            </a:extLst>
          </p:cNvPr>
          <p:cNvSpPr txBox="1"/>
          <p:nvPr/>
        </p:nvSpPr>
        <p:spPr>
          <a:xfrm>
            <a:off x="111760" y="947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Data Preparation &amp; 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4967B-A2D8-4CD1-8B56-31DA67E6665C}"/>
              </a:ext>
            </a:extLst>
          </p:cNvPr>
          <p:cNvSpPr txBox="1"/>
          <p:nvPr/>
        </p:nvSpPr>
        <p:spPr>
          <a:xfrm>
            <a:off x="205740" y="700038"/>
            <a:ext cx="61010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Steps performed:</a:t>
            </a:r>
          </a:p>
          <a:p>
            <a:r>
              <a:rPr lang="en-US" sz="2400" dirty="0"/>
              <a:t>• Missing value handling</a:t>
            </a:r>
            <a:br>
              <a:rPr lang="en-US" sz="2400" dirty="0"/>
            </a:br>
            <a:r>
              <a:rPr lang="en-US" sz="2400" dirty="0"/>
              <a:t>• Categorical encoding</a:t>
            </a:r>
            <a:br>
              <a:rPr lang="en-US" sz="2400" dirty="0"/>
            </a:br>
            <a:r>
              <a:rPr lang="en-US" sz="2400" dirty="0"/>
              <a:t>• Feature scaling</a:t>
            </a:r>
            <a:br>
              <a:rPr lang="en-US" sz="2400" dirty="0"/>
            </a:br>
            <a:r>
              <a:rPr lang="en-US" sz="2400" dirty="0"/>
              <a:t>• Stratified 80/20 split</a:t>
            </a:r>
            <a:br>
              <a:rPr lang="en-US" sz="2400" dirty="0"/>
            </a:br>
            <a:r>
              <a:rPr lang="en-US" sz="2400" dirty="0"/>
              <a:t>• Created tenure groups</a:t>
            </a:r>
            <a:br>
              <a:rPr lang="en-US" sz="2400" dirty="0"/>
            </a:br>
            <a:r>
              <a:rPr lang="en-US" sz="2400" dirty="0"/>
              <a:t>• Engineered billing &amp; contract indicators</a:t>
            </a:r>
          </a:p>
          <a:p>
            <a:r>
              <a:rPr lang="en-US" sz="2400" dirty="0"/>
              <a:t>Improved predictive power and interpretability.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F512C-96F0-40EC-BA2C-1ABCC16C6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484" y="94734"/>
            <a:ext cx="5416685" cy="31191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616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11D93-5684-44F9-8B61-D7F96BBD6B21}"/>
              </a:ext>
            </a:extLst>
          </p:cNvPr>
          <p:cNvSpPr txBox="1"/>
          <p:nvPr/>
        </p:nvSpPr>
        <p:spPr>
          <a:xfrm>
            <a:off x="193040" y="1861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/>
              <a:t>Modeling</a:t>
            </a:r>
            <a:r>
              <a:rPr lang="en-IN" sz="3600" dirty="0"/>
              <a:t>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0F5A7-AB50-459D-871E-C9AE189C0303}"/>
              </a:ext>
            </a:extLst>
          </p:cNvPr>
          <p:cNvSpPr txBox="1"/>
          <p:nvPr/>
        </p:nvSpPr>
        <p:spPr>
          <a:xfrm>
            <a:off x="193040" y="729963"/>
            <a:ext cx="6096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Modeling Strategy</a:t>
            </a:r>
          </a:p>
          <a:p>
            <a:r>
              <a:rPr lang="en-US" sz="2400" dirty="0"/>
              <a:t>Models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Logistic Regression (Primary Model)</a:t>
            </a:r>
          </a:p>
          <a:p>
            <a:r>
              <a:rPr lang="en-US" sz="2400" dirty="0"/>
              <a:t>Evaluation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F1-Score</a:t>
            </a:r>
          </a:p>
          <a:p>
            <a:r>
              <a:rPr lang="en-US" sz="2400" dirty="0"/>
              <a:t>Focus:</a:t>
            </a:r>
            <a:br>
              <a:rPr lang="en-US" sz="2400" dirty="0"/>
            </a:br>
            <a:r>
              <a:rPr lang="en-US" sz="2400" dirty="0"/>
              <a:t>Since churn prediction is a business problem, </a:t>
            </a:r>
            <a:r>
              <a:rPr lang="en-US" sz="2400" b="1" dirty="0"/>
              <a:t>Recall for churn (Class 1)</a:t>
            </a:r>
            <a:r>
              <a:rPr lang="en-US" sz="2400" dirty="0"/>
              <a:t> is especially important to minimize missed churn cases.</a:t>
            </a:r>
          </a:p>
          <a:p>
            <a:r>
              <a:rPr lang="en-US" sz="2400" dirty="0"/>
              <a:t>Train-Test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80%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20%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Stratified sampling applied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8005F2-BC31-4122-8337-B916A3A88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199" y="126394"/>
            <a:ext cx="6352747" cy="38766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9052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77036-7C83-4E7A-9773-348C19A10C30}"/>
              </a:ext>
            </a:extLst>
          </p:cNvPr>
          <p:cNvSpPr txBox="1"/>
          <p:nvPr/>
        </p:nvSpPr>
        <p:spPr>
          <a:xfrm>
            <a:off x="650240" y="18617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Model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400E1-8427-466E-8614-67AE690B0E39}"/>
              </a:ext>
            </a:extLst>
          </p:cNvPr>
          <p:cNvSpPr txBox="1"/>
          <p:nvPr/>
        </p:nvSpPr>
        <p:spPr>
          <a:xfrm>
            <a:off x="741680" y="10331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Performance Results</a:t>
            </a:r>
          </a:p>
          <a:p>
            <a:r>
              <a:rPr lang="en-IN" dirty="0"/>
              <a:t>Overall Accuracy: </a:t>
            </a:r>
            <a:r>
              <a:rPr lang="en-IN" b="1" dirty="0"/>
              <a:t>79%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44F302-13B1-4050-A2D2-4E8FFE07A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80904"/>
              </p:ext>
            </p:extLst>
          </p:nvPr>
        </p:nvGraphicFramePr>
        <p:xfrm>
          <a:off x="370841" y="1757106"/>
          <a:ext cx="5908041" cy="1671896"/>
        </p:xfrm>
        <a:graphic>
          <a:graphicData uri="http://schemas.openxmlformats.org/drawingml/2006/table">
            <a:tbl>
              <a:tblPr/>
              <a:tblGrid>
                <a:gridCol w="1969347">
                  <a:extLst>
                    <a:ext uri="{9D8B030D-6E8A-4147-A177-3AD203B41FA5}">
                      <a16:colId xmlns:a16="http://schemas.microsoft.com/office/drawing/2014/main" val="1970952031"/>
                    </a:ext>
                  </a:extLst>
                </a:gridCol>
                <a:gridCol w="1969347">
                  <a:extLst>
                    <a:ext uri="{9D8B030D-6E8A-4147-A177-3AD203B41FA5}">
                      <a16:colId xmlns:a16="http://schemas.microsoft.com/office/drawing/2014/main" val="1240825725"/>
                    </a:ext>
                  </a:extLst>
                </a:gridCol>
                <a:gridCol w="1969347">
                  <a:extLst>
                    <a:ext uri="{9D8B030D-6E8A-4147-A177-3AD203B41FA5}">
                      <a16:colId xmlns:a16="http://schemas.microsoft.com/office/drawing/2014/main" val="304903929"/>
                    </a:ext>
                  </a:extLst>
                </a:gridCol>
              </a:tblGrid>
              <a:tr h="417974">
                <a:tc>
                  <a:txBody>
                    <a:bodyPr/>
                    <a:lstStyle/>
                    <a:p>
                      <a:r>
                        <a:rPr lang="en-IN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Non-Churn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Churn 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532325"/>
                  </a:ext>
                </a:extLst>
              </a:tr>
              <a:tr h="417974">
                <a:tc>
                  <a:txBody>
                    <a:bodyPr/>
                    <a:lstStyle/>
                    <a:p>
                      <a:r>
                        <a:rPr lang="en-IN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742036"/>
                  </a:ext>
                </a:extLst>
              </a:tr>
              <a:tr h="417974">
                <a:tc>
                  <a:txBody>
                    <a:bodyPr/>
                    <a:lstStyle/>
                    <a:p>
                      <a:r>
                        <a:rPr lang="en-IN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288321"/>
                  </a:ext>
                </a:extLst>
              </a:tr>
              <a:tr h="417974"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5533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7E8EC56-DED8-45A2-8845-C09507E12F45}"/>
              </a:ext>
            </a:extLst>
          </p:cNvPr>
          <p:cNvSpPr txBox="1"/>
          <p:nvPr/>
        </p:nvSpPr>
        <p:spPr>
          <a:xfrm>
            <a:off x="370841" y="39400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Test Samples: 1407</a:t>
            </a:r>
            <a:br>
              <a:rPr lang="en-US" dirty="0"/>
            </a:br>
            <a:r>
              <a:rPr lang="en-US" dirty="0"/>
              <a:t>Churn Cases in Test: 398</a:t>
            </a:r>
          </a:p>
          <a:p>
            <a:r>
              <a:rPr lang="en-US" dirty="0"/>
              <a:t>Key Observation:</a:t>
            </a:r>
            <a:br>
              <a:rPr lang="en-US" dirty="0"/>
            </a:br>
            <a:r>
              <a:rPr lang="en-US" dirty="0"/>
              <a:t>The model performs well in predicting non-churn customers but struggles in identifying churn customers.</a:t>
            </a:r>
          </a:p>
        </p:txBody>
      </p:sp>
      <p:sp>
        <p:nvSpPr>
          <p:cNvPr id="11" name="AutoShape 3" descr="Uploaded image">
            <a:extLst>
              <a:ext uri="{FF2B5EF4-FFF2-40B4-BE49-F238E27FC236}">
                <a16:creationId xmlns:a16="http://schemas.microsoft.com/office/drawing/2014/main" id="{D165EBAD-D922-4E44-B79F-FC9D4178D1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352D25-4F60-4524-85E5-DB51DD27B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756" y="1574771"/>
            <a:ext cx="6392167" cy="2686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341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A3F701-73E2-4AB0-A97F-26AAD6BE5CE0}"/>
              </a:ext>
            </a:extLst>
          </p:cNvPr>
          <p:cNvSpPr txBox="1"/>
          <p:nvPr/>
        </p:nvSpPr>
        <p:spPr>
          <a:xfrm>
            <a:off x="223520" y="947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Performance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FA111-6A00-46E9-A5ED-CB33489585A0}"/>
              </a:ext>
            </a:extLst>
          </p:cNvPr>
          <p:cNvSpPr txBox="1"/>
          <p:nvPr/>
        </p:nvSpPr>
        <p:spPr>
          <a:xfrm>
            <a:off x="213360" y="952699"/>
            <a:ext cx="6106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Model Insights</a:t>
            </a:r>
          </a:p>
          <a:p>
            <a:r>
              <a:rPr lang="en-US" sz="2000" dirty="0"/>
              <a:t>• High Recall (94%) for non-churn customers</a:t>
            </a:r>
            <a:br>
              <a:rPr lang="en-US" sz="2000" dirty="0"/>
            </a:br>
            <a:r>
              <a:rPr lang="en-US" sz="2000" dirty="0"/>
              <a:t>• Lower Recall (43%) for churn customers</a:t>
            </a:r>
            <a:br>
              <a:rPr lang="en-US" sz="2000" dirty="0"/>
            </a:br>
            <a:r>
              <a:rPr lang="en-US" sz="2000" dirty="0"/>
              <a:t>• Model misses a significant portion of churn cases</a:t>
            </a:r>
            <a:br>
              <a:rPr lang="en-US" sz="2000" dirty="0"/>
            </a:br>
            <a:r>
              <a:rPr lang="en-US" sz="2000" dirty="0"/>
              <a:t>• Precision for churn (72%) indicates decent correctness when churn is predicted</a:t>
            </a:r>
          </a:p>
          <a:p>
            <a:r>
              <a:rPr lang="en-US" sz="2000" dirty="0"/>
              <a:t>Business Interpretation:</a:t>
            </a:r>
            <a:br>
              <a:rPr lang="en-US" sz="2000" dirty="0"/>
            </a:br>
            <a:r>
              <a:rPr lang="en-US" sz="2000" dirty="0"/>
              <a:t>The model is conservative in predicting churn, leading to missed churn opportunities.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6C509-35DD-44BA-91EF-83933E663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680" y="697171"/>
            <a:ext cx="5029200" cy="3117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684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C00A0B-25A5-4DAB-95E8-97F61CBA679B}"/>
              </a:ext>
            </a:extLst>
          </p:cNvPr>
          <p:cNvSpPr txBox="1"/>
          <p:nvPr/>
        </p:nvSpPr>
        <p:spPr>
          <a:xfrm>
            <a:off x="1884680" y="145534"/>
            <a:ext cx="8422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Business Impact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A411A-43D4-4DFE-8E54-A8EE39500393}"/>
              </a:ext>
            </a:extLst>
          </p:cNvPr>
          <p:cNvSpPr txBox="1"/>
          <p:nvPr/>
        </p:nvSpPr>
        <p:spPr>
          <a:xfrm>
            <a:off x="436880" y="853420"/>
            <a:ext cx="94488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Business Impact</a:t>
            </a:r>
          </a:p>
          <a:p>
            <a:r>
              <a:rPr lang="en-US" sz="2200" dirty="0"/>
              <a:t>• The model achieves </a:t>
            </a:r>
            <a:r>
              <a:rPr lang="en-US" sz="2200" b="1" dirty="0"/>
              <a:t>79% overall accuracy</a:t>
            </a:r>
            <a:br>
              <a:rPr lang="en-US" sz="2200" dirty="0"/>
            </a:br>
            <a:r>
              <a:rPr lang="en-US" sz="2200" dirty="0"/>
              <a:t>• Strong performance in identifying non-churn customers (94% recall)</a:t>
            </a:r>
            <a:br>
              <a:rPr lang="en-US" sz="2200" dirty="0"/>
            </a:br>
            <a:r>
              <a:rPr lang="en-US" sz="2200" dirty="0"/>
              <a:t>• Moderate precision (72%) for churn prediction</a:t>
            </a:r>
            <a:br>
              <a:rPr lang="en-US" sz="2200" dirty="0"/>
            </a:br>
            <a:r>
              <a:rPr lang="en-US" sz="2200" dirty="0"/>
              <a:t>• However, </a:t>
            </a:r>
            <a:r>
              <a:rPr lang="en-US" sz="2200" b="1" dirty="0"/>
              <a:t>43% churn recall indicates missed high-risk customers</a:t>
            </a:r>
            <a:endParaRPr lang="en-US" sz="2200" dirty="0"/>
          </a:p>
          <a:p>
            <a:r>
              <a:rPr lang="en-US" sz="2200" b="1" dirty="0"/>
              <a:t>Business Risk:</a:t>
            </a:r>
          </a:p>
          <a:p>
            <a:r>
              <a:rPr lang="en-US" sz="2200" dirty="0"/>
              <a:t>Missed churn customers (false negatives) may result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Revenue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Increased customer acquisition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Ineffective retention campaigns</a:t>
            </a:r>
          </a:p>
          <a:p>
            <a:r>
              <a:rPr lang="en-US" sz="2200" dirty="0"/>
              <a:t>The current model serves as a </a:t>
            </a:r>
            <a:r>
              <a:rPr lang="en-US" sz="2200" b="1" dirty="0"/>
              <a:t>baseline predictive system</a:t>
            </a:r>
            <a:r>
              <a:rPr lang="en-US" sz="2200" dirty="0"/>
              <a:t>, but improvement is needed for higher churn detection sensitivity.</a:t>
            </a:r>
          </a:p>
        </p:txBody>
      </p:sp>
    </p:spTree>
    <p:extLst>
      <p:ext uri="{BB962C8B-B14F-4D97-AF65-F5344CB8AC3E}">
        <p14:creationId xmlns:p14="http://schemas.microsoft.com/office/powerpoint/2010/main" val="149029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42B49B5-965F-4BEF-B302-EEA06EFF98B3}"/>
              </a:ext>
            </a:extLst>
          </p:cNvPr>
          <p:cNvSpPr txBox="1"/>
          <p:nvPr/>
        </p:nvSpPr>
        <p:spPr>
          <a:xfrm>
            <a:off x="274320" y="2166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Strategic Recommendations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F5E4CC-C4B8-4E10-98D4-1720513B6C6B}"/>
              </a:ext>
            </a:extLst>
          </p:cNvPr>
          <p:cNvSpPr txBox="1"/>
          <p:nvPr/>
        </p:nvSpPr>
        <p:spPr>
          <a:xfrm>
            <a:off x="274320" y="10925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 Strengthen Predictive Performance</a:t>
            </a:r>
          </a:p>
          <a:p>
            <a:r>
              <a:rPr lang="en-US" sz="2000" dirty="0"/>
              <a:t>To improve churn detection capability:</a:t>
            </a:r>
          </a:p>
          <a:p>
            <a:r>
              <a:rPr lang="en-US" sz="2000" dirty="0"/>
              <a:t>• Apply class balancing techniques (SMOTE / Class Weights)</a:t>
            </a:r>
            <a:br>
              <a:rPr lang="en-US" sz="2000" dirty="0"/>
            </a:br>
            <a:r>
              <a:rPr lang="en-US" sz="2000" dirty="0"/>
              <a:t>• Tune decision threshold to increase recall</a:t>
            </a:r>
            <a:br>
              <a:rPr lang="en-US" sz="2000" dirty="0"/>
            </a:br>
            <a:r>
              <a:rPr lang="en-US" sz="2000" dirty="0"/>
              <a:t>• Implement advanced models (Random Forest / </a:t>
            </a:r>
            <a:r>
              <a:rPr lang="en-US" sz="2000" dirty="0" err="1"/>
              <a:t>XGBoost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• Optimize model using recall-focused evaluation</a:t>
            </a:r>
          </a:p>
          <a:p>
            <a:r>
              <a:rPr lang="en-US" sz="2000" b="1" dirty="0"/>
              <a:t>Objective:</a:t>
            </a:r>
            <a:r>
              <a:rPr lang="en-US" sz="2000" dirty="0"/>
              <a:t> Reduce missed churn cases (false negatives)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31A158-0A16-427F-9058-369CFE3E327D}"/>
              </a:ext>
            </a:extLst>
          </p:cNvPr>
          <p:cNvSpPr txBox="1"/>
          <p:nvPr/>
        </p:nvSpPr>
        <p:spPr>
          <a:xfrm>
            <a:off x="6370320" y="100020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Focus on High-Risk Customer Segments</a:t>
            </a:r>
          </a:p>
          <a:p>
            <a:r>
              <a:rPr lang="en-US" sz="2400" dirty="0"/>
              <a:t>Retention efforts should prioritize:</a:t>
            </a:r>
          </a:p>
          <a:p>
            <a:r>
              <a:rPr lang="en-US" sz="2400" dirty="0"/>
              <a:t>• Month-to-month contract customers</a:t>
            </a:r>
            <a:br>
              <a:rPr lang="en-US" sz="2400" dirty="0"/>
            </a:br>
            <a:r>
              <a:rPr lang="en-US" sz="2400" dirty="0"/>
              <a:t>• Low-tenure customers</a:t>
            </a:r>
            <a:br>
              <a:rPr lang="en-US" sz="2400" dirty="0"/>
            </a:br>
            <a:r>
              <a:rPr lang="en-US" sz="2400" dirty="0"/>
              <a:t>• Customers with high monthly charges</a:t>
            </a:r>
            <a:br>
              <a:rPr lang="en-US" sz="2400" dirty="0"/>
            </a:br>
            <a:r>
              <a:rPr lang="en-US" sz="2400" dirty="0"/>
              <a:t>• Electronic check payment users</a:t>
            </a:r>
          </a:p>
          <a:p>
            <a:r>
              <a:rPr lang="en-US" sz="2400" b="1" dirty="0"/>
              <a:t>Objective:</a:t>
            </a:r>
            <a:r>
              <a:rPr lang="en-US" sz="2400" dirty="0"/>
              <a:t> Target customers with highest churn likelihood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10B91-C6CA-428F-BD31-D5AD1CC560B0}"/>
              </a:ext>
            </a:extLst>
          </p:cNvPr>
          <p:cNvSpPr txBox="1"/>
          <p:nvPr/>
        </p:nvSpPr>
        <p:spPr>
          <a:xfrm>
            <a:off x="2712720" y="3945990"/>
            <a:ext cx="94792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Implement Risk-Based Retention Strategy</a:t>
            </a:r>
          </a:p>
          <a:p>
            <a:r>
              <a:rPr lang="en-US" sz="2400" dirty="0"/>
              <a:t>Move from blanket campaigns to data-driven targeting:</a:t>
            </a:r>
          </a:p>
          <a:p>
            <a:r>
              <a:rPr lang="en-US" sz="2400" dirty="0"/>
              <a:t>• Rank customers by churn probability</a:t>
            </a:r>
            <a:br>
              <a:rPr lang="en-US" sz="2400" dirty="0"/>
            </a:br>
            <a:r>
              <a:rPr lang="en-US" sz="2400" dirty="0"/>
              <a:t>• Offer personalized loyalty incentives</a:t>
            </a:r>
            <a:br>
              <a:rPr lang="en-US" sz="2400" dirty="0"/>
            </a:br>
            <a:r>
              <a:rPr lang="en-US" sz="2400" dirty="0"/>
              <a:t>• Promote migration to long-term contracts</a:t>
            </a:r>
            <a:br>
              <a:rPr lang="en-US" sz="2400" dirty="0"/>
            </a:br>
            <a:r>
              <a:rPr lang="en-US" sz="2400" dirty="0"/>
              <a:t>• Provide proactive customer engagement</a:t>
            </a:r>
          </a:p>
          <a:p>
            <a:r>
              <a:rPr lang="en-US" sz="2400" b="1" dirty="0"/>
              <a:t>Objective:</a:t>
            </a:r>
            <a:r>
              <a:rPr lang="en-US" sz="2400" dirty="0"/>
              <a:t> Maximize retention ROI while minimizing cost</a:t>
            </a:r>
          </a:p>
        </p:txBody>
      </p:sp>
    </p:spTree>
    <p:extLst>
      <p:ext uri="{BB962C8B-B14F-4D97-AF65-F5344CB8AC3E}">
        <p14:creationId xmlns:p14="http://schemas.microsoft.com/office/powerpoint/2010/main" val="2020208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109A2-A7C8-4824-997C-C3A631E9A913}"/>
              </a:ext>
            </a:extLst>
          </p:cNvPr>
          <p:cNvSpPr txBox="1"/>
          <p:nvPr/>
        </p:nvSpPr>
        <p:spPr>
          <a:xfrm>
            <a:off x="873760" y="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5D677-76DC-4D24-80C1-D3B9F52406A4}"/>
              </a:ext>
            </a:extLst>
          </p:cNvPr>
          <p:cNvSpPr txBox="1"/>
          <p:nvPr/>
        </p:nvSpPr>
        <p:spPr>
          <a:xfrm>
            <a:off x="751840" y="923330"/>
            <a:ext cx="111963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Built a machine learning model to predict customer churn using behavioral and billing data</a:t>
            </a:r>
          </a:p>
          <a:p>
            <a:r>
              <a:rPr lang="en-US" sz="2800" dirty="0"/>
              <a:t>• Achieved </a:t>
            </a:r>
            <a:r>
              <a:rPr lang="en-US" sz="2800" b="1" dirty="0"/>
              <a:t>79% overall accuracy</a:t>
            </a:r>
            <a:r>
              <a:rPr lang="en-US" sz="2800" dirty="0"/>
              <a:t> with strong performance in identifying non-churn customers</a:t>
            </a:r>
          </a:p>
          <a:p>
            <a:r>
              <a:rPr lang="en-US" sz="2800" dirty="0"/>
              <a:t>• Identified key churn drivers: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Month-to-Month Contracts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Low Tenure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High Monthly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Electronic Check Payment Method</a:t>
            </a:r>
          </a:p>
          <a:p>
            <a:r>
              <a:rPr lang="en-US" sz="2800" dirty="0"/>
              <a:t>• Established a predictive framework to support proactive retention strategies</a:t>
            </a:r>
          </a:p>
          <a:p>
            <a:r>
              <a:rPr lang="en-US" sz="2800" dirty="0"/>
              <a:t>• Delivered actionable insights to reduce churn risk and protect revenue</a:t>
            </a:r>
          </a:p>
        </p:txBody>
      </p:sp>
    </p:spTree>
    <p:extLst>
      <p:ext uri="{BB962C8B-B14F-4D97-AF65-F5344CB8AC3E}">
        <p14:creationId xmlns:p14="http://schemas.microsoft.com/office/powerpoint/2010/main" val="4171786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DF3E3-C4A9-4E42-8E2B-005D53303CC8}"/>
              </a:ext>
            </a:extLst>
          </p:cNvPr>
          <p:cNvSpPr txBox="1"/>
          <p:nvPr/>
        </p:nvSpPr>
        <p:spPr>
          <a:xfrm>
            <a:off x="-71120" y="2204720"/>
            <a:ext cx="12039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6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31904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711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2026-02-14T13:22:09Z</dcterms:created>
  <dcterms:modified xsi:type="dcterms:W3CDTF">2026-02-14T14:32:03Z</dcterms:modified>
</cp:coreProperties>
</file>